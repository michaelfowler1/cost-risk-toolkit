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 i="0">
                <a:solidFill>
                  <a:srgbClr val="1F4E79"/>
                </a:solidFill>
              </a:defRPr>
            </a:pPr>
            <a:r>
              <a:t>Earned value: evm_example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595959"/>
                </a:solidFill>
              </a:defRPr>
            </a:pPr>
            <a:r>
              <a:t>Status as of period 2026-11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0">
                <a:solidFill>
                  <a:srgbClr val="595959"/>
                </a:solidFill>
              </a:defRPr>
            </a:pPr>
            <a:r>
              <a:t>Prepared 26 September 2026 with cost-core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F4E79"/>
                </a:solidFill>
              </a:defRPr>
            </a:pPr>
            <a: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 i="0"/>
            </a:pPr>
            <a:r>
              <a:t>•  Each dollar spent so far has bought 90 cents' worth of the planned work: the work done has cost 11% over its budget.</a:t>
            </a:r>
          </a:p>
          <a:p>
            <a:pPr>
              <a:spcAft>
                <a:spcPts val="1000"/>
              </a:spcAft>
              <a:defRPr sz="1500"/>
            </a:pPr>
            <a:r>
              <a:t>•  It is 2.2 reporting periods behind schedule, and at this pace finishes around period 35 of a 30-period plan.</a:t>
            </a:r>
          </a:p>
          <a:p>
            <a:pPr>
              <a:spcAft>
                <a:spcPts val="1000"/>
              </a:spcAft>
              <a:defRPr sz="1500"/>
            </a:pPr>
            <a:r>
              <a:t>•  The most likely final cost is about 17,016; plan on 17,151 to be 80% sure. The budget of 15,500 has almost no chance (none of the simulations) of being enough.</a:t>
            </a:r>
          </a:p>
          <a:p>
            <a:pPr>
              <a:spcAft>
                <a:spcPts val="1000"/>
              </a:spcAft>
              <a:defRPr sz="1500"/>
            </a:pPr>
            <a:r>
              <a:t>•  The contractor's estimate of 16,300 has less than a 1% chance of holding, so it is optimistic: it needs the rest of the program to go better than the record so far.</a:t>
            </a:r>
          </a:p>
          <a:p>
            <a:pPr>
              <a:spcAft>
                <a:spcPts val="1000"/>
              </a:spcAft>
              <a:defRPr sz="1500"/>
            </a:pPr>
            <a:r>
              <a:t>•  There is 1 warning sign, on the Warning signs slide; start with it.</a:t>
            </a:r>
          </a:p>
          <a:p>
            <a:pPr>
              <a:spcAft>
                <a:spcPts val="1000"/>
              </a:spcAft>
              <a:defRPr sz="1500"/>
            </a:pPr>
            <a:r>
              <a:t>•  2 accounts break the variance thresholds and owe a variance analysis report: '1.1 Air vehicle', '1.2 Software'.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0" y="11887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F4E79"/>
                </a:solidFill>
              </a:defRPr>
            </a:pPr>
            <a:r>
              <a:t>17,016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5727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95959"/>
                </a:solidFill>
              </a:defRPr>
            </a:pPr>
            <a:r>
              <a:t>most likely final cost (budget 15,500)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20299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F4E79"/>
                </a:solidFill>
              </a:defRPr>
            </a:pPr>
            <a:r>
              <a:t>17,151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414016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95959"/>
                </a:solidFill>
              </a:defRPr>
            </a:pPr>
            <a:r>
              <a:t>to be 80% sure of the final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87121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F4E79"/>
                </a:solidFill>
              </a:defRPr>
            </a:pPr>
            <a:r>
              <a:t>35.0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325526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95959"/>
                </a:solidFill>
              </a:defRPr>
            </a:pPr>
            <a:r>
              <a:t>likely finish period (plan: 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71246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F4E79"/>
                </a:solidFill>
              </a:defRPr>
            </a:pPr>
            <a:r>
              <a:t>0.90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0965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95959"/>
                </a:solidFill>
              </a:defRPr>
            </a:pPr>
            <a:r>
              <a:t>CPI: work done per dollar spent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5537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F4E79"/>
                </a:solidFill>
              </a:defRPr>
            </a:pPr>
            <a:r>
              <a:t>0.84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937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95959"/>
                </a:solidFill>
              </a:defRPr>
            </a:pPr>
            <a:r>
              <a:t>SPI(t): schedule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3949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1F4E79"/>
                </a:solidFill>
              </a:defRPr>
            </a:pPr>
            <a:r>
              <a:t>32%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779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95959"/>
                </a:solidFill>
              </a:defRPr>
            </a:pPr>
            <a:r>
              <a:t>percent 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F4E79"/>
                </a:solidFill>
              </a:defRPr>
            </a:pPr>
            <a:r>
              <a:t>Where the program is heading</a:t>
            </a:r>
          </a:p>
        </p:txBody>
      </p:sp>
      <p:pic>
        <p:nvPicPr>
          <p:cNvPr id="3" name="Picture 2" descr="Where the program is heading. Baseline, earned value and actual cost to date, with the P50 forecast and the P10 to P90 range of finish and final co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252" y="1097280"/>
            <a:ext cx="746519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595959"/>
                </a:solidFill>
              </a:defRPr>
            </a:pPr>
            <a:r>
              <a:t>Baseline, earned value and actual cost to date, with the P50 forecast and the P10 to P90 range of finish and final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F4E79"/>
                </a:solidFill>
              </a:defRPr>
            </a:pPr>
            <a:r>
              <a:t>Warning signs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676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3920"/>
                <a:gridCol w="6370320"/>
              </a:tblGrid>
              <a:tr h="3383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Why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Contractor EAC below every independent EAC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EAC 16,300.0 against the lowest independent EAC 16,773.4.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F4E79"/>
                </a:solidFill>
              </a:defRPr>
            </a:pPr>
            <a:r>
              <a:t>Final cost and finish, by confidence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39" cy="2029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1211"/>
                <a:gridCol w="3161211"/>
                <a:gridCol w="4741817"/>
              </a:tblGrid>
              <a:tr h="3383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Final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Finish (period)</a:t>
                      </a:r>
                    </a:p>
                  </a:txBody>
                  <a:tcPr/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16,825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33.9</a:t>
                      </a:r>
                    </a:p>
                  </a:txBody>
                  <a:tcPr/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35.0</a:t>
                      </a:r>
                    </a:p>
                  </a:txBody>
                  <a:tcPr/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17,101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35.5</a:t>
                      </a:r>
                    </a:p>
                  </a:txBody>
                  <a:tcPr/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35.9</a:t>
                      </a:r>
                    </a:p>
                  </a:txBody>
                  <a:tcPr/>
                </a:tc>
              </a:tr>
              <a:tr h="338332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17,259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36.4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595959"/>
                </a:solidFill>
              </a:defRPr>
            </a:pPr>
            <a:r>
              <a:t>Simulated from the program's own period-by-period record.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F4E79"/>
                </a:solidFill>
              </a:defRPr>
            </a:pPr>
            <a:r>
              <a:t>Accounts owing a variance analysis report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1014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196336"/>
                <a:gridCol w="4179824"/>
              </a:tblGrid>
              <a:tr h="3383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Schedule variance</a:t>
                      </a:r>
                    </a:p>
                  </a:txBody>
                  <a:tcPr/>
                </a:tc>
              </a:tr>
              <a:tr h="33832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1.1 Air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-290 (-10.6%)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-1,257 (-31.4%)</a:t>
                      </a:r>
                    </a:p>
                  </a:txBody>
                  <a:tcPr/>
                </a:tc>
              </a:tr>
              <a:tr h="338329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1.2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-162 (-13.1%)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-543 (-30.6%)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 i="1">
                <a:solidFill>
                  <a:srgbClr val="595959"/>
                </a:solidFill>
              </a:defRPr>
            </a:pPr>
            <a:r>
              <a:t>Cumulative variance against the thresholds; the Variance reports sheet has the detail.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F4E79"/>
                </a:solidFill>
              </a:defRPr>
            </a:pPr>
            <a:r>
              <a:t>Control accounts, worst CPI first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38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4241"/>
                <a:gridCol w="790302"/>
                <a:gridCol w="1185454"/>
                <a:gridCol w="2568484"/>
                <a:gridCol w="1975757"/>
              </a:tblGrid>
              <a:tr h="3383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SPI(t)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 variance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% complete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1.2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31%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1.1 Air vehicle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30%</a:t>
                      </a:r>
                    </a:p>
                  </a:txBody>
                  <a:tcPr/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1.3 Systems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F4E79"/>
                </a:solidFill>
              </a:defRPr>
            </a:pPr>
            <a:r>
              <a:t>Assumptions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 i="0"/>
            </a:pPr>
            <a:r>
              <a:t>•  Drawn from 14 periods of the program's own performance, with persistence 0.90 between periods.</a:t>
            </a:r>
          </a:p>
          <a:p>
            <a:pPr>
              <a:spcAft>
                <a:spcPts val="600"/>
              </a:spcAft>
              <a:defRPr sz="1400"/>
            </a:pPr>
            <a:r>
              <a:t>•  20,000 simulated completions, seed 0.</a:t>
            </a:r>
          </a:p>
          <a:p>
            <a:pPr>
              <a:spcAft>
                <a:spcPts val="600"/>
              </a:spcAft>
              <a:defRPr sz="1400"/>
            </a:pPr>
            <a:r>
              <a:t>•  Every figure and its formula is in report.xlsx beside this briefing.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